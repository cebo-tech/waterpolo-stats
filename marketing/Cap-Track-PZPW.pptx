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96128" y="1828799"/>
            <a:ext cx="1005840" cy="100584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96128" y="1828799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718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>
                <a:solidFill>
                  <a:srgbClr val="E6EDF3"/>
                </a:solidFill>
                <a:latin typeface="Calibri"/>
              </a:rPr>
              <a:t>Cap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CC9F0"/>
                </a:solidFill>
                <a:latin typeface="Calibri"/>
              </a:rPr>
              <a:t>Inteligentna analiza statystyk piłki wodnej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B97A5"/>
                </a:solidFill>
                <a:latin typeface="Calibri"/>
              </a:rPr>
              <a:t>Rejestracja na żywo · statystyki · wideo · AI · aplikacja mobilna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5257800"/>
            <a:ext cx="3657600" cy="502920"/>
          </a:xfrm>
          <a:prstGeom prst="roundRect">
            <a:avLst>
              <a:gd name="adj" fmla="val 30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0248" y="5257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6EDF3"/>
                </a:solidFill>
                <a:latin typeface="Calibri"/>
              </a:rPr>
              <a:t>Prezentacja dla Polskiego Związku Piłki Wodnej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Powered by CEBO.TECH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WYZWANIE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Statystyki waterpolo robi się „na kartce”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486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Zeszyt, Excel, pamięć trenera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dane niespójne i łatwe do zgubienia.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Brak narzędzia dedykowanego waterpolo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aplikacje z innych sportów nie pasują.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Analiza po meczu zajmuje godziny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ręczne przepisywanie i liczenie.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Brak obiektywnych danych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decyzje kadrowe „na oko”.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Wideo żyje osobno od statystyk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trudno wrócić do konkretnej akcji.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920240"/>
            <a:ext cx="4846320" cy="402336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920240"/>
            <a:ext cx="48463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4805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Dziś: notatnik trenera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7568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7568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7568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6600" y="26974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23760" y="27980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26974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1546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0" y="3255264"/>
            <a:ext cx="265176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0" y="31546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36118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3712464"/>
            <a:ext cx="329184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36118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40690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1696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40690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5262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23760" y="4626864"/>
            <a:ext cx="265176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45262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6600" y="49834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23760" y="5084064"/>
            <a:ext cx="329184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0" y="49834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6600" y="54406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23760" y="55412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0" y="54406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ROZWIĄZANIE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Cap Track — jedno miejsce na cały mecz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94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E6EDF3"/>
                </a:solidFill>
                <a:latin typeface="Calibri"/>
              </a:rPr>
              <a:t>Aplikacja zaprojektowana </a:t>
            </a:r>
            <a:r>
              <a:rPr sz="1600" b="1">
                <a:solidFill>
                  <a:srgbClr val="4CC9F0"/>
                </a:solidFill>
                <a:latin typeface="Calibri"/>
              </a:rPr>
              <a:t>pod waterpolo</a:t>
            </a:r>
            <a:r>
              <a:rPr sz="1600" b="0">
                <a:solidFill>
                  <a:srgbClr val="E6EDF3"/>
                </a:solidFill>
                <a:latin typeface="Calibri"/>
              </a:rPr>
              <a:t> i pod </a:t>
            </a:r>
            <a:r>
              <a:rPr sz="1600" b="1">
                <a:solidFill>
                  <a:srgbClr val="4CC9F0"/>
                </a:solidFill>
                <a:latin typeface="Calibri"/>
              </a:rPr>
              <a:t>iPada</a:t>
            </a:r>
            <a:r>
              <a:rPr sz="1600" b="0">
                <a:solidFill>
                  <a:srgbClr val="E6EDF3"/>
                </a:solidFill>
                <a:latin typeface="Calibri"/>
              </a:rPr>
              <a:t>. Trener jednym dotykiem (lub głosem) zapisuje zdarzenie, a system od razu liczy statystyki, czas gry i podpina wideo.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5394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Zbieranie danych w czasie rzeczywistym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44 typy zdarzeń meczowych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atak, obrona, przewagi, karne.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Działa offline na hali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ryzyka utraty danych.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Web + iOS + Android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jeden kod, każde urządzenie.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78308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1783080"/>
            <a:ext cx="50749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783080"/>
            <a:ext cx="47091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Asystent meczowy — na żywo</a:t>
            </a:r>
          </a:p>
        </p:txBody>
      </p:sp>
      <p:sp>
        <p:nvSpPr>
          <p:cNvPr id="13" name="Oval 12"/>
          <p:cNvSpPr/>
          <p:nvPr/>
        </p:nvSpPr>
        <p:spPr>
          <a:xfrm>
            <a:off x="11356848" y="193852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0" y="193852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54512" y="193852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sy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056" y="2295144"/>
            <a:ext cx="4366726" cy="356615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892056" y="2295144"/>
            <a:ext cx="4366726" cy="3566159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PRZEGLĄD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Kompletny zestaw narzędzi dla sztabu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7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Asystent na żywo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Szybkie zapisywanie zdarzeń meczowych jednym dotykiem.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644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4761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6528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Sterowanie głosem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„Numer 12 gol z kontrataku” — agent dopisuje zdarzenie.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596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713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66048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Tryb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542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Komendy nie giną przy zerwaniu sieci na hali.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7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Wideo + YouTube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Każde zdarzenie linkuje do klipu z właściwej sekundy.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644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4761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6528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Statystyki zaawansowane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590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Wykresy, multi-mecz, indeks ataku i obrony.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96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2713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6048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Czas gry (woda/ławka)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542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Automatyczne liczenie czasu w wodzie per zawodnik.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7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MVP po meczu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Obiektywny ranking wkładu zawodników.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644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4761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6528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Pulpit sezonu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590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KPI, forma, najlepsi strzelcy i asystenci.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596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32713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6048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Role i kluby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542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Właściciel, trener, zawodnik · wiele klubów.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Asystent meczowy — klikasz, system liczy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85216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85216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Asystent meczowy — na żywo</a:t>
            </a:r>
          </a:p>
        </p:txBody>
      </p:sp>
      <p:sp>
        <p:nvSpPr>
          <p:cNvPr id="11" name="Oval 10"/>
          <p:cNvSpPr/>
          <p:nvPr/>
        </p:nvSpPr>
        <p:spPr>
          <a:xfrm>
            <a:off x="616305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188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sy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628" y="2340864"/>
            <a:ext cx="4254759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365628" y="2340864"/>
            <a:ext cx="4254759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48463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Duże przyciski pod iPada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wygodne tempo meczu.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Podział WODA / ŁAWKA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ze strzałkami wejście/zejście.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Atak pozycyjny ↔ przewaga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jeden przełącznik.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Cofnij ostatnią akcję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błąd poprawisz w sekundę.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Wynik liczony automatycznie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po kwartach i łącznie.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Sterowanie głosem — ręce wolne na meczu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493776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493776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Sterowanie głosem</a:t>
            </a:r>
          </a:p>
        </p:txBody>
      </p:sp>
      <p:sp>
        <p:nvSpPr>
          <p:cNvPr id="11" name="Oval 10"/>
          <p:cNvSpPr/>
          <p:nvPr/>
        </p:nvSpPr>
        <p:spPr>
          <a:xfrm>
            <a:off x="524865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4748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528" y="2432304"/>
            <a:ext cx="4480560" cy="548640"/>
          </a:xfrm>
          <a:prstGeom prst="roundRect">
            <a:avLst>
              <a:gd name="adj" fmla="val 14000"/>
            </a:avLst>
          </a:prstGeom>
          <a:solidFill>
            <a:srgbClr val="2A1214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432304"/>
            <a:ext cx="4480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Calibri"/>
              </a:rPr>
              <a:t>🎤  Słucham…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" y="3145536"/>
            <a:ext cx="4480560" cy="2642615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8408" y="3346704"/>
            <a:ext cx="457200" cy="45720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3467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1018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328416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alibri"/>
              </a:rPr>
              <a:t>Gol z kontrataku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340156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02A33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8" y="3401568"/>
            <a:ext cx="502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„dwunastka trafiła z kontry”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" y="5221224"/>
            <a:ext cx="1956816" cy="365760"/>
          </a:xfrm>
          <a:prstGeom prst="roundRect">
            <a:avLst>
              <a:gd name="adj" fmla="val 2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5221224"/>
            <a:ext cx="19568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 Zapisz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44952" y="5221224"/>
            <a:ext cx="1956816" cy="365760"/>
          </a:xfrm>
          <a:prstGeom prst="roundRect">
            <a:avLst>
              <a:gd name="adj" fmla="val 20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5221224"/>
            <a:ext cx="19568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alibri"/>
              </a:rPr>
              <a:t>✕ Anuluj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" y="5660136"/>
            <a:ext cx="4114800" cy="54864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8408" y="5660136"/>
            <a:ext cx="2551176" cy="54864"/>
          </a:xfrm>
          <a:prstGeom prst="roundRect">
            <a:avLst>
              <a:gd name="adj" fmla="val 5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96596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E6EDF3"/>
                </a:solidFill>
                <a:latin typeface="Calibri"/>
              </a:rPr>
              <a:t>Trener patrzy na wodę, nie na ekran. </a:t>
            </a:r>
            <a:r>
              <a:rPr sz="1600" b="1">
                <a:solidFill>
                  <a:srgbClr val="4CC9F0"/>
                </a:solidFill>
                <a:latin typeface="Calibri"/>
              </a:rPr>
              <a:t>Mówisz komendę — agent ją rozumie i dopisuje zdarzenie.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200400"/>
            <a:ext cx="5669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Rozpoznawanie mowy po polsku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wbudowane w przeglądarkę.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Parser działa natychmiast i offline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kosztów, w pełni przewidywalnie.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Warstwa AI (Claude) dla swobodnych zdań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„dwunastka trafiła z kontry”.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Potwierdzenie przed zapisem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chroni dane przed przesłyszeniem.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Działa offline — nic nie ginie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5486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Hale często mają słaby zasięg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Cap Track to przewidział.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Każdy zapis trafia do kolejki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gdy sieć wróci, wysyła się sam.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Optymistyczny interfejs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widzisz akcję od razu, bez czekania.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Zero utraconych danych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spokój podczas całego meczu.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74519"/>
            <a:ext cx="5029200" cy="393192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0" y="1874519"/>
            <a:ext cx="502920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87451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Kolejka offline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29967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29967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29967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03720" y="251460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0" y="2633472"/>
            <a:ext cx="310896" cy="310896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6334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1460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Zapis zdarzenia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06324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29184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0" y="3410712"/>
            <a:ext cx="310896" cy="310896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34107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29184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Brak sieci — do kolejki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84048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06908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0880" y="4187952"/>
            <a:ext cx="310896" cy="310896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41879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06908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Sieć wraca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61772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484632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40880" y="4965192"/>
            <a:ext cx="310896" cy="310896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496519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8463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Auto-synchronizacja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Wideo zsynchronizowane z każdą akcją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51206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Podpinasz transmisję z YouTube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ustawiasz start = teraz.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Każde zdarzenie ma znacznik czasu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dokładnie w sekundzie akcji.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Jeden klik → klip od właściwego momentu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z cofnięciem o kilka sekund.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Analiza wideo bez przewijania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ogromna oszczędność czasu.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303520" cy="402336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3035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937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Powtórka akcji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29967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29967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29967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2468880"/>
            <a:ext cx="4754880" cy="2377440"/>
          </a:xfrm>
          <a:prstGeom prst="roundRect">
            <a:avLst>
              <a:gd name="adj" fmla="val 4000"/>
            </a:avLst>
          </a:prstGeom>
          <a:solidFill>
            <a:srgbClr val="001018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41080" y="3383280"/>
            <a:ext cx="640080" cy="64008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336499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1018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507492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5074920"/>
            <a:ext cx="1737360" cy="109728"/>
          </a:xfrm>
          <a:prstGeom prst="roundRect">
            <a:avLst>
              <a:gd name="adj" fmla="val 5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0" y="5029200"/>
            <a:ext cx="201168" cy="201168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#12 Gol z kontrataku · 2. kwarta · 14:32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Statystyki, które realnie pomagają trenować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66928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66928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3035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Statystyki — filtry, tabela, wykresy</a:t>
            </a:r>
          </a:p>
        </p:txBody>
      </p:sp>
      <p:sp>
        <p:nvSpPr>
          <p:cNvPr id="11" name="Oval 10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7900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7784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188" y="2340864"/>
            <a:ext cx="4254759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274188" y="2340864"/>
            <a:ext cx="4254759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011680"/>
            <a:ext cx="5029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Lekkie wykresy w aplikacji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eksportu do Excela.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Analiza wielu meczów naraz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trendy formy zespołu.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Indeks ataku i obrony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jedna liczba opisująca grę.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Rozkład wg kwart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gdzie tracimy mecze.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Porównania zawodników i drużyn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obiektywnie, na danych.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Pulpit — cały sezon na jednym ekranie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640080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640080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6035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Pulpit sezonu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1052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59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ul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948" y="2340864"/>
            <a:ext cx="4254759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639948" y="2340864"/>
            <a:ext cx="4254759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103120"/>
            <a:ext cx="4389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Najważniejsze KPI sezonu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mecze, bilans, bramki.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Forma w skrócie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ostatnie wyniki W/R/P.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Najlepsi strzelcy i asystenci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Szybki powrót do meczu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„Wznów” lub „Nowy mecz”.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MVP i czas gry — docenianie zawodników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76072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7607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3949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MVP po meczu</a:t>
            </a:r>
          </a:p>
        </p:txBody>
      </p:sp>
      <p:sp>
        <p:nvSpPr>
          <p:cNvPr id="11" name="Oval 10"/>
          <p:cNvSpPr/>
          <p:nvPr/>
        </p:nvSpPr>
        <p:spPr>
          <a:xfrm>
            <a:off x="607161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7044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79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57726"/>
            <a:ext cx="5541264" cy="324099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6656" y="2457726"/>
            <a:ext cx="5541264" cy="3240995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10312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Obiektywny ranking wkładu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ważony scoring zdarzeń.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Sugerowany MVP po meczu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trener zatwierdza lub zmienia.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Czas w wodzie per zawodnik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liczony automatycznie ze zmian.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Sprawiedliwy podział minut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dane zamiast wrażeń.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Motywacja dla młodzieży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widoczne docenienie pracy.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Role, kluby i konta zawodników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8424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424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Właściciel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Zarządza klubem, użytkownikami i ustawieniami.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7900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900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Trener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Prowadzi mecze, składy i statystyki zespołu.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7376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Zawodnik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Widzi własne statystyki, mecze i czas gry.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77639"/>
            <a:ext cx="106070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Wiele klubów na jednym koncie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przełączasz się jednym kliknięciem.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Zaproszenia e-mail z rolą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szybkie dodawanie sztabu i zawodników.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Zawodnik = własny widok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dostępu do paneli zarządzania.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TECHNOLOGIA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Aplikacja mobilna i nowoczesny fundament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237744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37744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iPad / iPhone</a:t>
            </a:r>
          </a:p>
        </p:txBody>
      </p:sp>
      <p:sp>
        <p:nvSpPr>
          <p:cNvPr id="11" name="Oval 10"/>
          <p:cNvSpPr/>
          <p:nvPr/>
        </p:nvSpPr>
        <p:spPr>
          <a:xfrm>
            <a:off x="2944368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43199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42032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468880"/>
            <a:ext cx="1828800" cy="3108960"/>
          </a:xfrm>
          <a:prstGeom prst="roundRect">
            <a:avLst>
              <a:gd name="adj" fmla="val 8000"/>
            </a:avLst>
          </a:prstGeom>
          <a:solidFill>
            <a:srgbClr val="001018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7360" y="2880360"/>
            <a:ext cx="548640" cy="54864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28803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749039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280160" y="4160520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4572000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80160" y="4983479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39" y="201168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Web, iOS i Android z jednego kodu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natywne aplikacje (Capacitor).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Zaprojektowane „iPad-first”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główne narzędzie pracy na hali.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Backend w architekturze heksagonalnej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czysty, testowany, łatwy do rozwoju.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Własny hosting (Coabify/Docker)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pełna kontrola nad wdrożeniem.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Dane na serwerach w UE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zgodność z RODO.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Bezpieczne logowanie i role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dostęp tylko dla uprawnionych.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CC9F0"/>
                </a:solidFill>
                <a:latin typeface="Calibri"/>
              </a:rPr>
              <a:t>WIZJA WSPÓŁPRACY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887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Ujednolićmy statystyki polskiego waterpolo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Kluby i akademie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Wspólny standard zbierania danych w całym kraju.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Kadry narodowe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Obiektywna analiza zawodników i przeciwników.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30768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Rozwój młodzieży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Mierzalny postęp i sprawiedliwy czas gry.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590288"/>
            <a:ext cx="822960" cy="82296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9028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5262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EDF3"/>
                </a:solidFill>
                <a:latin typeface="Calibri"/>
              </a:rPr>
              <a:t>Cap 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848" y="5074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5"/>
                </a:solidFill>
                <a:latin typeface="Calibri"/>
              </a:rPr>
              <a:t>Zróbmy pilotaż w wybranych klubach — pokażemy pełnię możliwości na żywo.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526280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CC9F0"/>
                </a:solidFill>
                <a:latin typeface="Calibri"/>
              </a:rPr>
              <a:t>Kontakt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patrykcebo11@gmail.com</a:t>
            </a:r>
          </a:p>
          <a:p>
            <a:pPr algn="r">
              <a:lnSpc>
                <a:spcPct val="10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CEBO.TECH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